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7363" y="1935231"/>
            <a:ext cx="5629275" cy="822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جمع المذكر </a:t>
            </a:r>
            <a:r>
              <a:rPr lang="en-US" sz="4950" b="1" dirty="0">
                <a:solidFill>
                  <a:srgbClr val="00B4D8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السالم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757363" y="2901032"/>
            <a:ext cx="562927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spc="2" kern="0" dirty="0">
                <a:solidFill>
                  <a:srgbClr val="FFC3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مفاتيح الإتقان في قواعد اللغة العربية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28625" y="4561284"/>
            <a:ext cx="22502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 / 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3758" y="196025"/>
            <a:ext cx="2166770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في سطر واحد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343471" y="560070"/>
            <a:ext cx="8457057" cy="4074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39496" y="756095"/>
            <a:ext cx="8065008" cy="568383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هو ما دلّ على أكثر من اثنين بزيادة </a:t>
            </a:r>
            <a:r>
              <a:rPr lang="en-US" sz="14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واو ونون</a:t>
            </a:r>
            <a:r>
              <a:rPr lang="en-US" sz="15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أو </a:t>
            </a:r>
            <a:r>
              <a:rPr lang="en-US" sz="14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ياء ونون</a:t>
            </a:r>
            <a:r>
              <a:rPr lang="en-US" sz="15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على مفرده، وسُمّي سالماً لأن بناء مفرده </a:t>
            </a:r>
            <a:r>
              <a:rPr lang="en-US" sz="14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سلم من التغيير</a:t>
            </a:r>
            <a:r>
              <a:rPr lang="en-US" sz="15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عند الجمع.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642009" y="1534504"/>
            <a:ext cx="3962495" cy="6755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4768025" y="1660520"/>
            <a:ext cx="3710464" cy="133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المفرد (الأصل)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68025" y="1849544"/>
            <a:ext cx="3710464" cy="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مُـسـلِـم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9496" y="1534504"/>
            <a:ext cx="3962496" cy="6755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" name="Text 7"/>
          <p:cNvSpPr/>
          <p:nvPr/>
        </p:nvSpPr>
        <p:spPr>
          <a:xfrm>
            <a:off x="665512" y="1660520"/>
            <a:ext cx="3710464" cy="133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الجمع (سالم)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5512" y="1849544"/>
            <a:ext cx="3710464" cy="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مُـسـلِـمـ</a:t>
            </a:r>
            <a:r>
              <a:rPr lang="en-US" sz="140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ـون</a:t>
            </a:r>
            <a:r>
              <a:rPr lang="en-US" sz="14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 / مُـسـلِـمـ</a:t>
            </a:r>
            <a:r>
              <a:rPr lang="en-US" sz="140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ـين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3471" y="4718590"/>
            <a:ext cx="189024" cy="126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0" y="428625"/>
            <a:ext cx="35718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متى يكون الاسم صالحاً؟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096019" y="1357313"/>
            <a:ext cx="2619356" cy="29182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119975" y="1643063"/>
            <a:ext cx="571500" cy="5715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850" y="1814513"/>
            <a:ext cx="2857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7442" y="2428875"/>
            <a:ext cx="1096566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العلم المذكر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381769" y="2946797"/>
            <a:ext cx="204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 يكون علماً لمذكر عاقل، خالياً من تاء التأنيث ومن التركيب.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773503" y="3696891"/>
            <a:ext cx="1264444" cy="292894"/>
          </a:xfrm>
          <a:prstGeom prst="roundRect">
            <a:avLst/>
          </a:prstGeom>
          <a:solidFill>
            <a:srgbClr val="FFC300"/>
          </a:solidFill>
          <a:ln/>
        </p:spPr>
      </p:sp>
      <p:sp>
        <p:nvSpPr>
          <p:cNvPr id="10" name="Text 6"/>
          <p:cNvSpPr/>
          <p:nvPr/>
        </p:nvSpPr>
        <p:spPr>
          <a:xfrm>
            <a:off x="6773503" y="3696891"/>
            <a:ext cx="1264444" cy="29289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محمد ← محمدون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62350" y="1357313"/>
            <a:ext cx="2619356" cy="29182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286306" y="1643063"/>
            <a:ext cx="571500" cy="5715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331" y="1814513"/>
            <a:ext cx="17145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11271" y="2428875"/>
            <a:ext cx="1121569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الصفة لمذكر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48100" y="2946797"/>
            <a:ext cx="2047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 يكون صفة لمذكر عاقل، خالية من تاء التأنيث وليست على وزن (أفعل فعلاء).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000556" y="3696891"/>
            <a:ext cx="1143000" cy="292894"/>
          </a:xfrm>
          <a:prstGeom prst="roundRect">
            <a:avLst/>
          </a:prstGeom>
          <a:solidFill>
            <a:srgbClr val="FFC300"/>
          </a:solidFill>
          <a:ln/>
        </p:spPr>
      </p:sp>
      <p:sp>
        <p:nvSpPr>
          <p:cNvPr id="17" name="Text 12"/>
          <p:cNvSpPr/>
          <p:nvPr/>
        </p:nvSpPr>
        <p:spPr>
          <a:xfrm>
            <a:off x="4000556" y="3696891"/>
            <a:ext cx="1143000" cy="29289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ماهر ← ماهرون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28681" y="1357313"/>
            <a:ext cx="2619356" cy="29182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1452637" y="1643063"/>
            <a:ext cx="571500" cy="5715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087" y="1814513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8710" y="2428875"/>
            <a:ext cx="539353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العقل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4431" y="2946797"/>
            <a:ext cx="204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يُشترط في الاسم أو الصفة أن تكون لـ "عاقل" حصراً.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1129382" y="3696891"/>
            <a:ext cx="1218009" cy="292894"/>
          </a:xfrm>
          <a:prstGeom prst="roundRect">
            <a:avLst/>
          </a:prstGeom>
          <a:solidFill>
            <a:srgbClr val="FFC300"/>
          </a:solidFill>
          <a:ln/>
        </p:spPr>
      </p:sp>
      <p:sp>
        <p:nvSpPr>
          <p:cNvPr id="24" name="Text 18"/>
          <p:cNvSpPr/>
          <p:nvPr/>
        </p:nvSpPr>
        <p:spPr>
          <a:xfrm>
            <a:off x="1129382" y="3696891"/>
            <a:ext cx="1218009" cy="29289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مؤمن ← مؤمنون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28625" y="4561284"/>
            <a:ext cx="82867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 / 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4503" y="228600"/>
            <a:ext cx="146089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علامتا الإعراب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4643438" y="614363"/>
            <a:ext cx="4271963" cy="4071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643438" y="614363"/>
            <a:ext cx="4271963" cy="5715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6436519" y="785813"/>
            <a:ext cx="6858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0B4D8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حالة الرفع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31161" y="1100138"/>
            <a:ext cx="696516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72000"/>
              </a:lnSpc>
              <a:buNone/>
            </a:pPr>
            <a:r>
              <a:rPr lang="en-US" sz="375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ـون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5745361" y="1691618"/>
            <a:ext cx="20681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يُرفع جمع المذكر السالم بـ </a:t>
            </a:r>
            <a:r>
              <a:rPr lang="en-US" sz="75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الواو</a:t>
            </a:r>
            <a:r>
              <a:rPr lang="en-US" sz="8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نيابة عن الضمة.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8600" y="614363"/>
            <a:ext cx="4271963" cy="4071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28600" y="614363"/>
            <a:ext cx="4271963" cy="57150"/>
          </a:xfrm>
          <a:prstGeom prst="rect">
            <a:avLst/>
          </a:prstGeom>
          <a:solidFill>
            <a:srgbClr val="480CA8"/>
          </a:solidFill>
          <a:ln/>
        </p:spPr>
      </p:sp>
      <p:sp>
        <p:nvSpPr>
          <p:cNvPr id="11" name="Text 8"/>
          <p:cNvSpPr/>
          <p:nvPr/>
        </p:nvSpPr>
        <p:spPr>
          <a:xfrm>
            <a:off x="1784152" y="785813"/>
            <a:ext cx="11608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480CA8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حالتا النصب والجر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44898" y="1100138"/>
            <a:ext cx="639366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72000"/>
              </a:lnSpc>
              <a:buNone/>
            </a:pPr>
            <a:r>
              <a:rPr lang="en-US" sz="375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ـين</a:t>
            </a:r>
            <a:endParaRPr lang="en-US" sz="3750" dirty="0"/>
          </a:p>
        </p:txBody>
      </p:sp>
      <p:sp>
        <p:nvSpPr>
          <p:cNvPr id="13" name="Text 10"/>
          <p:cNvSpPr/>
          <p:nvPr/>
        </p:nvSpPr>
        <p:spPr>
          <a:xfrm>
            <a:off x="1419820" y="1691618"/>
            <a:ext cx="18895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يُنصب ويُجر بـ </a:t>
            </a:r>
            <a:r>
              <a:rPr lang="en-US" sz="75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الياء</a:t>
            </a:r>
            <a:r>
              <a:rPr lang="en-US" sz="800" dirty="0">
                <a:solidFill>
                  <a:srgbClr val="1D2D4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نيابة عن الفتحة والكسرة.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711803" y="4786313"/>
            <a:ext cx="2035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61534" y="200025"/>
            <a:ext cx="238244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أمثلة تنبض بالحركة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200025" y="600075"/>
            <a:ext cx="8743950" cy="628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226028" y="735081"/>
            <a:ext cx="546497" cy="135731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226028" y="735081"/>
            <a:ext cx="546497" cy="13573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حالة الرفع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593806" y="913674"/>
            <a:ext cx="117871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نجح </a:t>
            </a:r>
            <a:r>
              <a:rPr lang="en-US" sz="12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المجتهدون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57825" y="842963"/>
            <a:ext cx="1171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فاعل مرفوع وعلامة رفعه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225653" y="842963"/>
            <a:ext cx="2321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الواو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271963" y="842963"/>
            <a:ext cx="95369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جمع مذكر سالم.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0025" y="1314450"/>
            <a:ext cx="8743950" cy="6143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8158163" y="1442312"/>
            <a:ext cx="614363" cy="135731"/>
          </a:xfrm>
          <a:prstGeom prst="rect">
            <a:avLst/>
          </a:prstGeom>
          <a:solidFill>
            <a:srgbClr val="480CA8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158163" y="1442312"/>
            <a:ext cx="614363" cy="13573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حالة النصب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7725966" y="1620906"/>
            <a:ext cx="104655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كرّمتُ </a:t>
            </a:r>
            <a:r>
              <a:rPr lang="en-US" sz="120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الفائزين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9213" y="1550194"/>
            <a:ext cx="15001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مفعول به منصوب وعلامة نصبه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911328" y="1550194"/>
            <a:ext cx="217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الياء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57638" y="1550194"/>
            <a:ext cx="95369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جمع مذكر سالم.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0025" y="2014538"/>
            <a:ext cx="8743950" cy="6143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8279606" y="2142399"/>
            <a:ext cx="492919" cy="135731"/>
          </a:xfrm>
          <a:prstGeom prst="rect">
            <a:avLst/>
          </a:prstGeom>
          <a:solidFill>
            <a:srgbClr val="480CA8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79606" y="2142399"/>
            <a:ext cx="492919" cy="13573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حالة الجر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7061597" y="2320993"/>
            <a:ext cx="171092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سلّمتُ على </a:t>
            </a:r>
            <a:r>
              <a:rPr lang="en-US" sz="120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المسافرين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72125" y="2250281"/>
            <a:ext cx="10572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مجرور وعلامة جره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54241" y="2250281"/>
            <a:ext cx="217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الياء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400550" y="2250281"/>
            <a:ext cx="95369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جمع مذكر سالم.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00025" y="4814888"/>
            <a:ext cx="87439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5891" y="228600"/>
            <a:ext cx="17895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انتبه عند الكتابة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228600" y="600075"/>
            <a:ext cx="8686800" cy="11914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843963" y="600075"/>
            <a:ext cx="71438" cy="1191499"/>
          </a:xfrm>
          <a:prstGeom prst="rect">
            <a:avLst/>
          </a:prstGeom>
          <a:solidFill>
            <a:srgbClr val="FFC3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757238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2019" y="728663"/>
            <a:ext cx="35933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حذف النون عند الإضافة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722019" y="942975"/>
            <a:ext cx="35933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تُحذف نون جمع المذكر السالم إذا جاء بعده </a:t>
            </a:r>
            <a:r>
              <a:rPr lang="en-US" sz="80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مضاف إليه</a:t>
            </a: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، ولا نضع ألفاً بعد الواو.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722019" y="1174421"/>
            <a:ext cx="3593306" cy="488566"/>
          </a:xfrm>
          <a:prstGeom prst="rect">
            <a:avLst/>
          </a:prstGeom>
          <a:solidFill>
            <a:srgbClr val="1D2D44"/>
          </a:solidFill>
          <a:ln/>
        </p:spPr>
      </p:sp>
      <p:sp>
        <p:nvSpPr>
          <p:cNvPr id="10" name="Text 6"/>
          <p:cNvSpPr/>
          <p:nvPr/>
        </p:nvSpPr>
        <p:spPr>
          <a:xfrm>
            <a:off x="6568678" y="1260146"/>
            <a:ext cx="166092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700" b="1" strike="sngStrike" dirty="0">
                <a:solidFill>
                  <a:srgbClr val="FFC300">
                    <a:alpha val="85000"/>
                  </a:srgbClr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حضر معلمون المدرسة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568678" y="1423002"/>
            <a:ext cx="1660922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حضر معلمو المدرسة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807744" y="1260146"/>
            <a:ext cx="166092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700" b="1" strike="sngStrike" dirty="0">
                <a:solidFill>
                  <a:srgbClr val="FFC300">
                    <a:alpha val="85000"/>
                  </a:srgbClr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رأيت مهندسين المشروع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807744" y="1423002"/>
            <a:ext cx="1660922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رأيت مهندسي المشروع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1891587"/>
            <a:ext cx="8686800" cy="702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843963" y="1891587"/>
            <a:ext cx="71438" cy="702934"/>
          </a:xfrm>
          <a:prstGeom prst="rect">
            <a:avLst/>
          </a:prstGeom>
          <a:solidFill>
            <a:srgbClr val="480C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2048749"/>
            <a:ext cx="257175" cy="2571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00450" y="2020174"/>
            <a:ext cx="4714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كلمات تشبه الجمع وليست منه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600450" y="2234487"/>
            <a:ext cx="4714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كلمات مثل (مساكين، شياطين، فنون) ليست جمع مذكر سالم لأن النون فيها </a:t>
            </a:r>
            <a:r>
              <a:rPr lang="en-US" sz="800" b="1" dirty="0">
                <a:solidFill>
                  <a:srgbClr val="480CA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أصلية</a:t>
            </a: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أو تغير بناء المفرد.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28600" y="4793456"/>
            <a:ext cx="8686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 / 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4503" y="228600"/>
            <a:ext cx="14608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1D2D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اختبر فهمك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228600" y="657225"/>
            <a:ext cx="8686800" cy="13808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371475" y="800100"/>
            <a:ext cx="8401050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1. أكمل الجملة: "شكرَ المديرُ ............ على إخلاصهم"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38869" y="1109402"/>
            <a:ext cx="2733656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E5C76">
                    <a:alpha val="6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الموظفون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5200" y="1109402"/>
            <a:ext cx="2733656" cy="385763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5200" y="1109402"/>
            <a:ext cx="2733656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الموظفين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1531" y="1109402"/>
            <a:ext cx="2740800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E5C76">
                    <a:alpha val="6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الموظفان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22281" y="1623752"/>
            <a:ext cx="1950244" cy="271463"/>
          </a:xfrm>
          <a:prstGeom prst="rect">
            <a:avLst/>
          </a:prstGeom>
          <a:solidFill>
            <a:srgbClr val="FFC300">
              <a:alpha val="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822281" y="1623752"/>
            <a:ext cx="19502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5B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💡 تذكر: الكلمة هنا مفعول به منصوب.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28600" y="2166677"/>
            <a:ext cx="8686800" cy="9808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71475" y="2309552"/>
            <a:ext cx="8401050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D2D44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2. ما هو الإعراب الصحيح لـ "المصلون" في جملة "خَشعَ المصلون"؟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8869" y="2618854"/>
            <a:ext cx="2733656" cy="385763"/>
          </a:xfrm>
          <a:prstGeom prst="rect">
            <a:avLst/>
          </a:prstGeom>
          <a:solidFill>
            <a:srgbClr val="00B4D8">
              <a:alpha val="6000"/>
            </a:srgbClr>
          </a:solidFill>
          <a:ln w="9144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8869" y="2618854"/>
            <a:ext cx="2733656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00B4D8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فاعل مرفوع بالواو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12343" y="2618854"/>
            <a:ext cx="2740800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E5C76">
                    <a:alpha val="6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مبتدأ مرفوع بالضمة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71531" y="2618854"/>
            <a:ext cx="2740800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E5C76">
                    <a:alpha val="6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مجرور بالياء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711803" y="4779169"/>
            <a:ext cx="2035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 / 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71850" y="1512689"/>
            <a:ext cx="2400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0B4D8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 الذهبية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991206" y="2062758"/>
            <a:ext cx="2581294" cy="1282303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29338" y="2205633"/>
            <a:ext cx="23145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C30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129338" y="2773561"/>
            <a:ext cx="23145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المفرد </a:t>
            </a:r>
            <a:r>
              <a:rPr lang="en-US" sz="1000" b="1" dirty="0">
                <a:solidFill>
                  <a:srgbClr val="FFFFFF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يسلم</a:t>
            </a: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من التغيير، فقط نزيد الواو </a:t>
            </a: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 الياء.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86125" y="2062758"/>
            <a:ext cx="2586038" cy="1282303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19512" y="2205633"/>
            <a:ext cx="231931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C30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419512" y="2773561"/>
            <a:ext cx="231931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الرفع بـ </a:t>
            </a:r>
            <a:r>
              <a:rPr lang="en-US" sz="1000" b="1" dirty="0">
                <a:solidFill>
                  <a:srgbClr val="FFFFFF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الواو</a:t>
            </a: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، والنصب والجر بـ </a:t>
            </a:r>
            <a:r>
              <a:rPr lang="en-US" sz="1000" b="1" dirty="0">
                <a:solidFill>
                  <a:srgbClr val="FFFFFF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الياء</a:t>
            </a: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دائماً.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56" y="2062758"/>
            <a:ext cx="2590781" cy="1282303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0032" y="2212777"/>
            <a:ext cx="232411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C30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00032" y="2780705"/>
            <a:ext cx="232411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احذر </a:t>
            </a:r>
            <a:r>
              <a:rPr lang="en-US" sz="1000" b="1" dirty="0">
                <a:solidFill>
                  <a:srgbClr val="FFFFFF"/>
                </a:solidFill>
                <a:latin typeface="Tajawal Bold" pitchFamily="34" charset="0"/>
                <a:ea typeface="Tajawal Bold" pitchFamily="34" charset="-122"/>
                <a:cs typeface="Tajawal Bold" pitchFamily="34" charset="-120"/>
              </a:rPr>
              <a:t>النون</a:t>
            </a: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؛ تُحذف عند الإضافة ولا </a:t>
            </a: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تخلطها بالأصلية.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787973" y="3452217"/>
            <a:ext cx="15680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اللغة العربية.. إتقانٌ وجمال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1450" y="4879181"/>
            <a:ext cx="214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E5C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 / 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2026-09-17T07:15:22Z</dcterms:created>
  <dcterms:modified xsi:type="dcterms:W3CDTF">2026-09-17T07:15:22Z</dcterms:modified>
</cp:coreProperties>
</file>